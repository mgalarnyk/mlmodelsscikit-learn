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36" r:id="rId3"/>
    <p:sldId id="284" r:id="rId4"/>
    <p:sldId id="338" r:id="rId5"/>
    <p:sldId id="345" r:id="rId6"/>
    <p:sldId id="346" r:id="rId7"/>
    <p:sldId id="342" r:id="rId8"/>
    <p:sldId id="350" r:id="rId9"/>
    <p:sldId id="351" r:id="rId10"/>
    <p:sldId id="339" r:id="rId11"/>
    <p:sldId id="354" r:id="rId12"/>
    <p:sldId id="355" r:id="rId13"/>
    <p:sldId id="352" r:id="rId14"/>
    <p:sldId id="3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90"/>
    <p:restoredTop sz="72867"/>
  </p:normalViewPr>
  <p:slideViewPr>
    <p:cSldViewPr snapToGrid="0" snapToObjects="1">
      <p:cViewPr varScale="1">
        <p:scale>
          <a:sx n="111" d="100"/>
          <a:sy n="111" d="100"/>
        </p:scale>
        <p:origin x="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E0636-8A2E-4043-881A-1014A5CF382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73416-B7DF-8D4F-92B3-793638796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4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6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8355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50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40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78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8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55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48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29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70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1DEC4-36CC-C0C4-13B0-7FF429C9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141C0-EFB2-EBF5-712B-B1CA97EF3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6C27F-FC86-3053-7FE0-7AC777E49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C5FFF-EC38-4AAC-51F5-36C1539425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18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E98B2-3FA3-FFFA-9241-1B8A170F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B4162-F669-2BF1-7855-4BF40E9AD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7816E-2B91-C586-27DA-F6381ABA3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FDBC3-31B9-CE0F-249A-F8FC0C7AD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15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788D-6139-5DE8-38E0-AB1B7CDD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09333-31E6-51A7-6404-21FB19BCE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EEE74-B87D-568F-DB64-36678A634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81E3F-B4EB-F6EA-3AF4-6AB2F66B56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71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CCC7F-0541-228A-E94E-4A5E3B89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12595-145A-D782-1A4F-76176C9F5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E6E01-6D0A-0548-752C-DA7A29DD1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37B3-0C48-A38C-D6EC-BDCBE9CA6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73416-B7DF-8D4F-92B3-79363879632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2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3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8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55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6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0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4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04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36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26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8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6781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3BEF8-C8D8-2848-8261-78C14686017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5EC77-D645-5F43-8EC8-1C74EEF76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4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897872"/>
          </a:xfrm>
        </p:spPr>
        <p:txBody>
          <a:bodyPr>
            <a:normAutofit/>
          </a:bodyPr>
          <a:lstStyle/>
          <a:p>
            <a:r>
              <a:rPr lang="en-US" b="1" dirty="0"/>
              <a:t>Introduction to Machine Learning: From Theory to Application</a:t>
            </a:r>
            <a:br>
              <a:rPr lang="en-US" dirty="0"/>
            </a:b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7383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781A3F5-8268-3E40-B6CD-0541A6E6CEE6}"/>
              </a:ext>
            </a:extLst>
          </p:cNvPr>
          <p:cNvSpPr/>
          <p:nvPr/>
        </p:nvSpPr>
        <p:spPr>
          <a:xfrm>
            <a:off x="4278544" y="2925415"/>
            <a:ext cx="3648456" cy="2606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About Me</a:t>
            </a:r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103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ML PhD Student at Georgia Tech</a:t>
            </a:r>
            <a:endParaRPr lang="en-US" dirty="0"/>
          </a:p>
          <a:p>
            <a:r>
              <a:rPr lang="en" dirty="0"/>
              <a:t>What I have done:</a:t>
            </a:r>
            <a:endParaRPr dirty="0"/>
          </a:p>
        </p:txBody>
      </p:sp>
      <p:sp>
        <p:nvSpPr>
          <p:cNvPr id="68" name="Shape 68"/>
          <p:cNvSpPr txBox="1"/>
          <p:nvPr/>
        </p:nvSpPr>
        <p:spPr>
          <a:xfrm>
            <a:off x="606467" y="5531456"/>
            <a:ext cx="3368000" cy="5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dirty="0"/>
              <a:t>Understanding Fitbit Data</a:t>
            </a:r>
          </a:p>
        </p:txBody>
      </p:sp>
      <p:sp>
        <p:nvSpPr>
          <p:cNvPr id="69" name="Shape 69"/>
          <p:cNvSpPr txBox="1"/>
          <p:nvPr/>
        </p:nvSpPr>
        <p:spPr>
          <a:xfrm>
            <a:off x="4384413" y="5537577"/>
            <a:ext cx="3368000" cy="5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/>
            <a:endParaRPr sz="2400" dirty="0"/>
          </a:p>
        </p:txBody>
      </p:sp>
      <p:sp>
        <p:nvSpPr>
          <p:cNvPr id="70" name="Shape 70"/>
          <p:cNvSpPr txBox="1"/>
          <p:nvPr/>
        </p:nvSpPr>
        <p:spPr>
          <a:xfrm>
            <a:off x="8401106" y="5531455"/>
            <a:ext cx="3368000" cy="1002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dirty="0"/>
              <a:t>LinkedIn Learning Instructor</a:t>
            </a:r>
            <a:endParaRPr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00" r="1368"/>
          <a:stretch/>
        </p:blipFill>
        <p:spPr>
          <a:xfrm>
            <a:off x="709565" y="2924156"/>
            <a:ext cx="3161803" cy="26090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69C6172-7479-2042-8AF6-F7F7EFFE7545}"/>
              </a:ext>
            </a:extLst>
          </p:cNvPr>
          <p:cNvSpPr/>
          <p:nvPr/>
        </p:nvSpPr>
        <p:spPr>
          <a:xfrm>
            <a:off x="8217336" y="2925415"/>
            <a:ext cx="3648456" cy="2606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close up of a sign&#10;&#10;Description automatically generated">
            <a:extLst>
              <a:ext uri="{FF2B5EF4-FFF2-40B4-BE49-F238E27FC236}">
                <a16:creationId xmlns:a16="http://schemas.microsoft.com/office/drawing/2014/main" id="{A43B46F8-08C0-3D43-92F0-260B0ABB7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422" y="3371185"/>
            <a:ext cx="2552700" cy="1714500"/>
          </a:xfrm>
          <a:prstGeom prst="rect">
            <a:avLst/>
          </a:prstGeom>
        </p:spPr>
      </p:pic>
      <p:sp>
        <p:nvSpPr>
          <p:cNvPr id="20" name="Shape 70">
            <a:extLst>
              <a:ext uri="{FF2B5EF4-FFF2-40B4-BE49-F238E27FC236}">
                <a16:creationId xmlns:a16="http://schemas.microsoft.com/office/drawing/2014/main" id="{ADCE84E5-714D-CE49-A0E3-31E370FB5A63}"/>
              </a:ext>
            </a:extLst>
          </p:cNvPr>
          <p:cNvSpPr txBox="1"/>
          <p:nvPr/>
        </p:nvSpPr>
        <p:spPr>
          <a:xfrm>
            <a:off x="4418772" y="5531454"/>
            <a:ext cx="3368000" cy="1002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dirty="0"/>
              <a:t>Machine Learning with Python Instructor</a:t>
            </a:r>
            <a:endParaRPr sz="2400" dirty="0"/>
          </a:p>
        </p:txBody>
      </p:sp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6AF65473-C0B0-4640-A896-F61BD5AD4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7334" y="3873988"/>
            <a:ext cx="3648457" cy="71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17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should know for this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Linear </a:t>
            </a:r>
            <a:r>
              <a:rPr lang="en-US" dirty="0"/>
              <a:t>regression</a:t>
            </a:r>
          </a:p>
          <a:p>
            <a:r>
              <a:rPr lang="en-US" dirty="0"/>
              <a:t>Python strings</a:t>
            </a:r>
          </a:p>
          <a:p>
            <a:r>
              <a:rPr lang="en-US" dirty="0"/>
              <a:t>Integers and floats</a:t>
            </a:r>
          </a:p>
          <a:p>
            <a:r>
              <a:rPr lang="en-US" dirty="0"/>
              <a:t>Conditionals and </a:t>
            </a:r>
            <a:r>
              <a:rPr lang="en-US" dirty="0" err="1"/>
              <a:t>booleans</a:t>
            </a:r>
            <a:r>
              <a:rPr lang="en-US" dirty="0"/>
              <a:t>-if, else, and </a:t>
            </a:r>
            <a:r>
              <a:rPr lang="en-US" dirty="0" err="1"/>
              <a:t>elif</a:t>
            </a:r>
            <a:endParaRPr lang="en-US" dirty="0"/>
          </a:p>
          <a:p>
            <a:r>
              <a:rPr lang="en-US" dirty="0"/>
              <a:t>For loops</a:t>
            </a:r>
          </a:p>
          <a:p>
            <a:r>
              <a:rPr lang="en-US" dirty="0"/>
              <a:t>Lists, tuples</a:t>
            </a:r>
          </a:p>
          <a:p>
            <a:r>
              <a:rPr lang="en-US" dirty="0"/>
              <a:t>Dictionaries</a:t>
            </a:r>
          </a:p>
        </p:txBody>
      </p:sp>
    </p:spTree>
    <p:extLst>
      <p:ext uri="{BB962C8B-B14F-4D97-AF65-F5344CB8AC3E}">
        <p14:creationId xmlns:p14="http://schemas.microsoft.com/office/powerpoint/2010/main" val="198415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Machine Learning?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014788" y="1825625"/>
            <a:ext cx="73390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200" dirty="0"/>
              <a:t>“field of study that gives computers the ability to learn from data without being explicitly programmed.”</a:t>
            </a:r>
          </a:p>
          <a:p>
            <a:pPr marL="2286000" lvl="5" indent="0">
              <a:buNone/>
            </a:pPr>
            <a:r>
              <a:rPr lang="en-US" sz="3200" dirty="0"/>
              <a:t>						- Arthur Samuel</a:t>
            </a:r>
          </a:p>
          <a:p>
            <a:endParaRPr lang="en-US" sz="4200" dirty="0"/>
          </a:p>
        </p:txBody>
      </p:sp>
      <p:pic>
        <p:nvPicPr>
          <p:cNvPr id="8" name="Picture 7" descr="A person wearing glasses posing for the camera&#10;&#10;Description automatically generated">
            <a:extLst>
              <a:ext uri="{FF2B5EF4-FFF2-40B4-BE49-F238E27FC236}">
                <a16:creationId xmlns:a16="http://schemas.microsoft.com/office/drawing/2014/main" id="{253A592B-7D23-8C4A-8FC7-D5B5761F72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241"/>
          <a:stretch/>
        </p:blipFill>
        <p:spPr>
          <a:xfrm>
            <a:off x="838200" y="1825625"/>
            <a:ext cx="3094330" cy="428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5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Machine Learning?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014788" y="1825625"/>
            <a:ext cx="733901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200" dirty="0"/>
              <a:t>“‘Learning’ enters when we give these models tunable parameters that can be adapted to observed data; in this way the program can be considered to be ‘learning’ from the data."</a:t>
            </a:r>
          </a:p>
          <a:p>
            <a:pPr marL="2286000" lvl="5" indent="0">
              <a:buNone/>
            </a:pPr>
            <a:r>
              <a:rPr lang="en-US" sz="3200" dirty="0"/>
              <a:t>						- Jake </a:t>
            </a:r>
            <a:r>
              <a:rPr lang="en-US" sz="3200" dirty="0" err="1"/>
              <a:t>Vanderplas</a:t>
            </a:r>
            <a:endParaRPr lang="en-US" sz="4200" dirty="0"/>
          </a:p>
        </p:txBody>
      </p:sp>
      <p:pic>
        <p:nvPicPr>
          <p:cNvPr id="5" name="Picture 4" descr="A person wearing a suit and tie smiling at the camera&#10;&#10;Description automatically generated">
            <a:extLst>
              <a:ext uri="{FF2B5EF4-FFF2-40B4-BE49-F238E27FC236}">
                <a16:creationId xmlns:a16="http://schemas.microsoft.com/office/drawing/2014/main" id="{C36D0CDE-B945-F44F-856D-DCF43040E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3090672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18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Machine Learning?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014788" y="1825625"/>
            <a:ext cx="73390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200" dirty="0"/>
              <a:t>“Once models have been fit to previously seen data, they can be used to predict and understand aspects of newly observed data.”</a:t>
            </a:r>
          </a:p>
          <a:p>
            <a:pPr marL="2286000" lvl="5" indent="0">
              <a:buNone/>
            </a:pPr>
            <a:r>
              <a:rPr lang="en-US" sz="3200" dirty="0"/>
              <a:t>						- Jake </a:t>
            </a:r>
            <a:r>
              <a:rPr lang="en-US" sz="3200" dirty="0" err="1"/>
              <a:t>Vanderplas</a:t>
            </a:r>
            <a:endParaRPr lang="en-US" sz="4200" dirty="0"/>
          </a:p>
        </p:txBody>
      </p:sp>
      <p:pic>
        <p:nvPicPr>
          <p:cNvPr id="5" name="Picture 4" descr="A person wearing a suit and tie smiling at the camera&#10;&#10;Description automatically generated">
            <a:extLst>
              <a:ext uri="{FF2B5EF4-FFF2-40B4-BE49-F238E27FC236}">
                <a16:creationId xmlns:a16="http://schemas.microsoft.com/office/drawing/2014/main" id="{C36D0CDE-B945-F44F-856D-DCF43040E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3090672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66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Two Basic Types of Machine Learning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27226" y="1673225"/>
            <a:ext cx="463666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="1" dirty="0"/>
              <a:t>Supervised learning</a:t>
            </a:r>
          </a:p>
          <a:p>
            <a:pPr marL="457200" lvl="1" indent="0">
              <a:buNone/>
            </a:pPr>
            <a:r>
              <a:rPr lang="en-US" sz="2800" dirty="0"/>
              <a:t>Modeling the relationship between measured features of data and some target (label/value). When target is a label, it is classification. When target is a continuous value, it is regression.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EA128F-CC57-5C47-9CCA-7A9ECE2F22AE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463666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/>
              <a:t>Unsupervised learning</a:t>
            </a:r>
          </a:p>
          <a:p>
            <a:pPr marL="457200" lvl="1" indent="0">
              <a:buNone/>
            </a:pPr>
            <a:r>
              <a:rPr lang="en-US" sz="2800" dirty="0"/>
              <a:t>Modeling the measured features of data without some target (label/value).</a:t>
            </a:r>
          </a:p>
        </p:txBody>
      </p:sp>
    </p:spTree>
    <p:extLst>
      <p:ext uri="{BB962C8B-B14F-4D97-AF65-F5344CB8AC3E}">
        <p14:creationId xmlns:p14="http://schemas.microsoft.com/office/powerpoint/2010/main" val="78172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4C88E847-427E-BF4D-B3DD-BFAE5987C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963" y="1480344"/>
            <a:ext cx="9563100" cy="4737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72850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Unsupervised learning</a:t>
            </a:r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DDC22F21-9937-D541-927A-017068DB4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481328"/>
            <a:ext cx="96774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40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From Theory to Application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2209006"/>
            <a:ext cx="3802189" cy="4351338"/>
          </a:xfrm>
        </p:spPr>
        <p:txBody>
          <a:bodyPr>
            <a:noAutofit/>
          </a:bodyPr>
          <a:lstStyle/>
          <a:p>
            <a:r>
              <a:rPr lang="en-US" b="1" dirty="0"/>
              <a:t>A Little Theory + Diagrams gives us the why</a:t>
            </a:r>
            <a:r>
              <a:rPr lang="en-US" dirty="0"/>
              <a:t>: understanding how models learn patterns from data.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58D6D12-84C3-F415-D89F-513016A82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858" y="1825625"/>
            <a:ext cx="7369142" cy="255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59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561D5-1A29-541D-4F66-290B2567A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632D-3C51-7415-585E-1160CC81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From Theory to Application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FCF875-9A3C-8C36-54F8-491F5984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9006"/>
            <a:ext cx="3802189" cy="4351338"/>
          </a:xfrm>
        </p:spPr>
        <p:txBody>
          <a:bodyPr>
            <a:noAutofit/>
          </a:bodyPr>
          <a:lstStyle/>
          <a:p>
            <a:r>
              <a:rPr lang="en-US" b="1" dirty="0"/>
              <a:t>Application shows the how:</a:t>
            </a:r>
            <a:r>
              <a:rPr lang="en-US" dirty="0"/>
              <a:t> turning that understanding into working code.</a:t>
            </a:r>
          </a:p>
        </p:txBody>
      </p:sp>
      <p:pic>
        <p:nvPicPr>
          <p:cNvPr id="7" name="Picture 6" descr="A computer code with text&#10;&#10;AI-generated content may be incorrect.">
            <a:extLst>
              <a:ext uri="{FF2B5EF4-FFF2-40B4-BE49-F238E27FC236}">
                <a16:creationId xmlns:a16="http://schemas.microsoft.com/office/drawing/2014/main" id="{112FE545-29F6-8B23-A56B-69AD99B81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129" y="1958975"/>
            <a:ext cx="68326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51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EF61F-93B4-4D2A-31AE-0558DBBC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D09A-4453-148B-BD7E-31FDCD8A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From Theory to Application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1E6D0B-48EF-425A-9964-0F938A30A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9006"/>
            <a:ext cx="3802189" cy="4351338"/>
          </a:xfrm>
        </p:spPr>
        <p:txBody>
          <a:bodyPr>
            <a:noAutofit/>
          </a:bodyPr>
          <a:lstStyle/>
          <a:p>
            <a:r>
              <a:rPr lang="en-US" b="1" dirty="0"/>
              <a:t>Images will help with explanations</a:t>
            </a:r>
            <a:endParaRPr lang="en-US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C6FBF694-0804-ABA2-6E1D-827E4247B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167" y="1802785"/>
            <a:ext cx="4498321" cy="325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726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947C6-0028-C438-5CFC-896568A5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68F1-110B-F55A-9F5A-018C60892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Why use Scikit-Learn for Machine Learning?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053760-B139-EB1B-53EE-56959E5D2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5625"/>
            <a:ext cx="9507311" cy="4351338"/>
          </a:xfrm>
        </p:spPr>
        <p:txBody>
          <a:bodyPr>
            <a:noAutofit/>
          </a:bodyPr>
          <a:lstStyle/>
          <a:p>
            <a:r>
              <a:rPr lang="en-US" sz="2600" b="1" u="sng" dirty="0"/>
              <a:t>This is a not a long talk.</a:t>
            </a:r>
          </a:p>
          <a:p>
            <a:r>
              <a:rPr lang="en-US" sz="2600" dirty="0"/>
              <a:t>Programming machine learning algorithms from scratch is no easy task. </a:t>
            </a:r>
          </a:p>
          <a:p>
            <a:r>
              <a:rPr lang="en-US" sz="2600" dirty="0"/>
              <a:t>Scikit-learn provides a large amount of well programmed algorithms.</a:t>
            </a:r>
          </a:p>
          <a:p>
            <a:r>
              <a:rPr lang="en-US" sz="2600" dirty="0"/>
              <a:t>Syntax allows you to try multiple algorithms quickly.</a:t>
            </a:r>
          </a:p>
          <a:p>
            <a:r>
              <a:rPr lang="en-US" sz="2600" dirty="0"/>
              <a:t>Library works well with other python libraries like NumPy, pandas, and matplotlib.</a:t>
            </a:r>
          </a:p>
          <a:p>
            <a:r>
              <a:rPr lang="en-US" sz="2600" dirty="0"/>
              <a:t>Library is popular. </a:t>
            </a:r>
          </a:p>
        </p:txBody>
      </p:sp>
    </p:spTree>
    <p:extLst>
      <p:ext uri="{BB962C8B-B14F-4D97-AF65-F5344CB8AC3E}">
        <p14:creationId xmlns:p14="http://schemas.microsoft.com/office/powerpoint/2010/main" val="4126168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7A494-0280-69B5-BA4C-59FF1A0C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BDA30-1B26-EDC1-CEAF-20A78CB6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Why about using Cursor/Claude/</a:t>
            </a:r>
            <a:r>
              <a:rPr lang="en-US" sz="4000" dirty="0" err="1"/>
              <a:t>etc</a:t>
            </a:r>
            <a:r>
              <a:rPr lang="en-US" sz="4000" dirty="0"/>
              <a:t>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A3008A-D342-CCF1-B790-588D01EC3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5625"/>
            <a:ext cx="9507311" cy="4351338"/>
          </a:xfrm>
        </p:spPr>
        <p:txBody>
          <a:bodyPr>
            <a:noAutofit/>
          </a:bodyPr>
          <a:lstStyle/>
          <a:p>
            <a:r>
              <a:rPr lang="en-US" sz="2600" dirty="0"/>
              <a:t>You can </a:t>
            </a:r>
            <a:r>
              <a:rPr lang="en-US" sz="2600"/>
              <a:t>use it.</a:t>
            </a:r>
            <a:endParaRPr lang="en-US" sz="2600" dirty="0"/>
          </a:p>
          <a:p>
            <a:r>
              <a:rPr lang="en-US" sz="2600" dirty="0"/>
              <a:t>Understanding how things work will enhance your ability to utilize these tools.</a:t>
            </a:r>
          </a:p>
        </p:txBody>
      </p:sp>
    </p:spTree>
    <p:extLst>
      <p:ext uri="{BB962C8B-B14F-4D97-AF65-F5344CB8AC3E}">
        <p14:creationId xmlns:p14="http://schemas.microsoft.com/office/powerpoint/2010/main" val="3190058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9777</TotalTime>
  <Words>399</Words>
  <Application>Microsoft Macintosh PowerPoint</Application>
  <PresentationFormat>Widescreen</PresentationFormat>
  <Paragraphs>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Introduction to Machine Learning: From Theory to Application </vt:lpstr>
      <vt:lpstr>About Me</vt:lpstr>
      <vt:lpstr>What you should know for this talk</vt:lpstr>
      <vt:lpstr>What is Machine Learning?</vt:lpstr>
      <vt:lpstr>What is Machine Learning?</vt:lpstr>
      <vt:lpstr>What is Machine Learning?</vt:lpstr>
      <vt:lpstr>Two Basic Types of Machine Learning</vt:lpstr>
      <vt:lpstr>Supervised learning</vt:lpstr>
      <vt:lpstr>Unsupervised learning</vt:lpstr>
      <vt:lpstr>From Theory to Application</vt:lpstr>
      <vt:lpstr>From Theory to Application</vt:lpstr>
      <vt:lpstr>From Theory to Application</vt:lpstr>
      <vt:lpstr>Why use Scikit-Learn for Machine Learning?</vt:lpstr>
      <vt:lpstr>Why about using Cursor/Claude/etc?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Using Python</dc:title>
  <dc:creator>Michael Galarnyk</dc:creator>
  <cp:lastModifiedBy>Galarnyk, Michael</cp:lastModifiedBy>
  <cp:revision>321</cp:revision>
  <cp:lastPrinted>2018-10-09T17:00:03Z</cp:lastPrinted>
  <dcterms:created xsi:type="dcterms:W3CDTF">2018-10-06T19:16:58Z</dcterms:created>
  <dcterms:modified xsi:type="dcterms:W3CDTF">2026-04-27T13:58:04Z</dcterms:modified>
</cp:coreProperties>
</file>